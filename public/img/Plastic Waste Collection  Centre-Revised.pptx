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4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7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62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94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1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6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0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30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6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82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275" y="365126"/>
            <a:ext cx="10585449" cy="976312"/>
          </a:xfrm>
          <a:prstGeom prst="rect">
            <a:avLst/>
          </a:prstGeom>
        </p:spPr>
        <p:txBody>
          <a:bodyPr lIns="0" tIns="0" rIns="0" bIns="0" anchor="ctr"/>
          <a:lstStyle>
            <a:lvl1pPr eaLnBrk="1" hangingPunct="1">
              <a:lnSpc>
                <a:spcPct val="80000"/>
              </a:lnSpc>
              <a:defRPr lang="en-US" sz="4800" dirty="0">
                <a:solidFill>
                  <a:srgbClr val="6D2077"/>
                </a:solidFill>
                <a:latin typeface="KPMG Extralight" panose="020B0303030202040204" pitchFamily="34" charset="0"/>
                <a:cs typeface="KPMG Extralight" panose="020B0303030202040204" pitchFamily="34" charset="0"/>
              </a:defRPr>
            </a:lvl1pPr>
          </a:lstStyle>
          <a:p>
            <a:r>
              <a:rPr lang="en-US" dirty="0"/>
              <a:t>Double header</a:t>
            </a:r>
            <a:br>
              <a:rPr lang="en-US" dirty="0"/>
            </a:br>
            <a:r>
              <a:rPr lang="en-US" dirty="0"/>
              <a:t>- KPMG </a:t>
            </a:r>
            <a:r>
              <a:rPr lang="en-US" dirty="0" err="1"/>
              <a:t>Extralight</a:t>
            </a:r>
            <a:r>
              <a:rPr lang="en-US" dirty="0"/>
              <a:t> Font 48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803275" y="1350963"/>
            <a:ext cx="10585450" cy="0"/>
          </a:xfrm>
          <a:prstGeom prst="line">
            <a:avLst/>
          </a:prstGeom>
          <a:ln>
            <a:solidFill>
              <a:srgbClr val="6D2077"/>
            </a:solidFill>
            <a:headEnd type="none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803274" y="1808162"/>
            <a:ext cx="10585449" cy="42497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en-US" sz="1200" kern="1200" baseline="0" dirty="0">
                <a:solidFill>
                  <a:schemeClr val="tx1"/>
                </a:solidFill>
                <a:latin typeface="Univers for KPMG" panose="020B0603020202020204" pitchFamily="34" charset="0"/>
                <a:ea typeface="+mn-ea"/>
                <a:cs typeface="+mn-cs"/>
              </a:defRPr>
            </a:lvl1pPr>
            <a:lvl2pPr marL="271463" indent="-271463">
              <a:lnSpc>
                <a:spcPct val="90000"/>
              </a:lnSpc>
              <a:buFont typeface="Arial" panose="020B0604020202020204" pitchFamily="34" charset="0"/>
              <a:buChar char="—"/>
              <a:defRPr lang="en-US" sz="1200" kern="1200" baseline="0" dirty="0">
                <a:solidFill>
                  <a:schemeClr val="tx1"/>
                </a:solidFill>
                <a:latin typeface="Univers for KPMG" panose="020B0603020202020204" pitchFamily="34" charset="0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Master text styles</a:t>
            </a:r>
          </a:p>
          <a:p>
            <a:pPr lvl="1"/>
            <a:r>
              <a:rPr lang="en-US" dirty="0"/>
              <a:t>Second level </a:t>
            </a:r>
          </a:p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963723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  <p15:guide id="2" pos="506">
          <p15:clr>
            <a:srgbClr val="FBAE40"/>
          </p15:clr>
        </p15:guide>
        <p15:guide id="3" pos="7174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981">
          <p15:clr>
            <a:srgbClr val="FBAE40"/>
          </p15:clr>
        </p15:guide>
        <p15:guide id="6" orient="horz" pos="3816">
          <p15:clr>
            <a:srgbClr val="FBAE40"/>
          </p15:clr>
        </p15:guide>
        <p15:guide id="7" orient="horz" pos="11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32BA5-12F3-48B3-9A2D-84D9A5092BE4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89515-8E38-41E0-9D45-C8AB953C53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1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Plastic Waste Collection Centre- Madhya Pradesh Model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3275" y="1613647"/>
            <a:ext cx="74426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First of the kind Plastic Waste Collection Centre </a:t>
            </a:r>
            <a:r>
              <a:rPr lang="en-US" sz="1400" dirty="0"/>
              <a:t>set up in Indore (2011), Bhopal (2008) and </a:t>
            </a:r>
            <a:r>
              <a:rPr lang="en-US" sz="1400" dirty="0" err="1"/>
              <a:t>Dewas</a:t>
            </a:r>
            <a:r>
              <a:rPr lang="en-US" sz="1400" dirty="0"/>
              <a:t> (2015) on a PPP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center </a:t>
            </a:r>
            <a:r>
              <a:rPr lang="en-US" sz="1400" b="1" dirty="0"/>
              <a:t>covers 25 wards/villages  (3 lakh population)</a:t>
            </a:r>
            <a:r>
              <a:rPr lang="en-US" sz="1400" dirty="0"/>
              <a:t> and </a:t>
            </a:r>
            <a:r>
              <a:rPr lang="en-US" sz="1400" b="1" dirty="0"/>
              <a:t>employs around 50 people </a:t>
            </a:r>
            <a:r>
              <a:rPr lang="en-US" sz="1400" dirty="0"/>
              <a:t>(including waste collectors + employees)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Generates a </a:t>
            </a:r>
            <a:r>
              <a:rPr lang="en-US" sz="1400" b="1" dirty="0"/>
              <a:t>profit of Rs.1000 per day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787498" y="4611718"/>
            <a:ext cx="7760147" cy="1995371"/>
            <a:chOff x="514349" y="3863640"/>
            <a:chExt cx="7760147" cy="1995371"/>
          </a:xfrm>
        </p:grpSpPr>
        <p:sp>
          <p:nvSpPr>
            <p:cNvPr id="18" name="Rectangle 17"/>
            <p:cNvSpPr/>
            <p:nvPr/>
          </p:nvSpPr>
          <p:spPr>
            <a:xfrm>
              <a:off x="5686034" y="4140273"/>
              <a:ext cx="1028080" cy="65994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Shredding Machine</a:t>
              </a:r>
            </a:p>
          </p:txBody>
        </p:sp>
        <p:sp>
          <p:nvSpPr>
            <p:cNvPr id="33" name="Bent Arrow 32"/>
            <p:cNvSpPr/>
            <p:nvPr/>
          </p:nvSpPr>
          <p:spPr>
            <a:xfrm>
              <a:off x="4828747" y="4301940"/>
              <a:ext cx="889784" cy="67011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2850936" y="4294768"/>
              <a:ext cx="1518069" cy="1125091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200" b="1" dirty="0"/>
                <a:t>Main Collection Centre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2746170" y="4716426"/>
              <a:ext cx="300038" cy="4255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654866" y="4100512"/>
              <a:ext cx="1174059" cy="15158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1971437" y="4028463"/>
              <a:ext cx="539782" cy="10037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200" b="1" dirty="0"/>
                <a:t>Collection Centre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1968588" y="4725707"/>
              <a:ext cx="545479" cy="100373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200" b="1" dirty="0"/>
                <a:t>Collection Centre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71966" y="4929188"/>
              <a:ext cx="1119398" cy="65994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/>
                <a:t>Fatka</a:t>
              </a:r>
              <a:r>
                <a:rPr lang="en-US" sz="1200" b="1" dirty="0"/>
                <a:t> Machine 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704672" y="4929189"/>
              <a:ext cx="1022690" cy="659946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Bailing Machine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43721" y="4100512"/>
              <a:ext cx="1211151" cy="714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Road Construction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937362" y="4901973"/>
              <a:ext cx="1237118" cy="714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Cement Factories</a:t>
              </a:r>
            </a:p>
          </p:txBody>
        </p:sp>
        <p:sp>
          <p:nvSpPr>
            <p:cNvPr id="25" name="Right Arrow 24"/>
            <p:cNvSpPr/>
            <p:nvPr/>
          </p:nvSpPr>
          <p:spPr>
            <a:xfrm>
              <a:off x="1512580" y="4317570"/>
              <a:ext cx="171135" cy="4255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4172517" y="5105849"/>
              <a:ext cx="199449" cy="3944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12980" y="3863640"/>
              <a:ext cx="24615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Plastic Waste &lt;100 microns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812980" y="5597401"/>
              <a:ext cx="24615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Plastic Waste &gt;100 microns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5494337" y="5105141"/>
              <a:ext cx="199449" cy="3944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39" name="Right Arrow 38"/>
            <p:cNvSpPr/>
            <p:nvPr/>
          </p:nvSpPr>
          <p:spPr>
            <a:xfrm>
              <a:off x="6730828" y="4260188"/>
              <a:ext cx="199449" cy="3944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40" name="Right Arrow 39"/>
            <p:cNvSpPr/>
            <p:nvPr/>
          </p:nvSpPr>
          <p:spPr>
            <a:xfrm>
              <a:off x="6737913" y="5099254"/>
              <a:ext cx="199449" cy="3944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247149" y="4367713"/>
              <a:ext cx="1534177" cy="99977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sz="1200" b="1" dirty="0"/>
                <a:t>Supply of Waste by Rag -pickers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1508653" y="5012895"/>
              <a:ext cx="171135" cy="42552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858930" y="4391701"/>
            <a:ext cx="246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30979" y="4462109"/>
            <a:ext cx="6657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Process of Handling Plastic Waste at the Centre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55005" y="1319719"/>
            <a:ext cx="3361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Unit Economics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4377" y="1342163"/>
            <a:ext cx="3361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About the Centre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77094" y="3094385"/>
            <a:ext cx="7975227" cy="1067014"/>
            <a:chOff x="511107" y="3517395"/>
            <a:chExt cx="7530502" cy="807206"/>
          </a:xfrm>
        </p:grpSpPr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1107" y="3521164"/>
              <a:ext cx="1044453" cy="785046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 rotWithShape="1">
            <a:blip r:embed="rId3"/>
            <a:srcRect t="7488"/>
            <a:stretch/>
          </p:blipFill>
          <p:spPr>
            <a:xfrm>
              <a:off x="2924980" y="3540246"/>
              <a:ext cx="623094" cy="765964"/>
            </a:xfrm>
            <a:prstGeom prst="rect">
              <a:avLst/>
            </a:prstGeom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 rotWithShape="1">
            <a:blip r:embed="rId4"/>
            <a:srcRect l="1483" t="44679" r="74844" b="27174"/>
            <a:stretch/>
          </p:blipFill>
          <p:spPr>
            <a:xfrm>
              <a:off x="3631935" y="3517395"/>
              <a:ext cx="1201697" cy="769837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 rotWithShape="1">
            <a:blip r:embed="rId4"/>
            <a:srcRect l="24786" t="17220" r="52096" b="55320"/>
            <a:stretch/>
          </p:blipFill>
          <p:spPr>
            <a:xfrm>
              <a:off x="1606991" y="3519550"/>
              <a:ext cx="1234128" cy="789842"/>
            </a:xfrm>
            <a:prstGeom prst="rect">
              <a:avLst/>
            </a:prstGeom>
          </p:spPr>
        </p:pic>
        <p:pic>
          <p:nvPicPr>
            <p:cNvPr id="34" name="Picture 2" descr="C:\Documents and Settings\saood\Desktop\photos\image (15).png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0" t="1867" r="39520" b="66721"/>
            <a:stretch/>
          </p:blipFill>
          <p:spPr>
            <a:xfrm>
              <a:off x="4899346" y="3526636"/>
              <a:ext cx="1852188" cy="770749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6"/>
            <a:srcRect l="48938" t="15149" r="23499" b="51834"/>
            <a:stretch/>
          </p:blipFill>
          <p:spPr>
            <a:xfrm>
              <a:off x="6807611" y="3528156"/>
              <a:ext cx="1233998" cy="796445"/>
            </a:xfrm>
            <a:prstGeom prst="rect">
              <a:avLst/>
            </a:prstGeom>
          </p:spPr>
        </p:pic>
      </p:grp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092773"/>
              </p:ext>
            </p:extLst>
          </p:nvPr>
        </p:nvGraphicFramePr>
        <p:xfrm>
          <a:off x="8575547" y="1642337"/>
          <a:ext cx="3311339" cy="47107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36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S.No</a:t>
                      </a: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Items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Cost (</a:t>
                      </a:r>
                      <a:r>
                        <a:rPr lang="en-US" sz="11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Rs</a:t>
                      </a:r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Capital</a:t>
                      </a:r>
                      <a:r>
                        <a:rPr lang="en-US" sz="1100" b="1" u="none" strike="noStrike" baseline="0" dirty="0">
                          <a:effectLst/>
                        </a:rPr>
                        <a:t> Expenditure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Construction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4,00,000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Fatka</a:t>
                      </a:r>
                      <a:r>
                        <a:rPr lang="en-US" sz="1100" u="none" strike="noStrike" dirty="0">
                          <a:effectLst/>
                        </a:rPr>
                        <a:t> machine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Shredding Machine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Bailing Machine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Tools &amp; Equipment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Total*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effectLst/>
                        </a:rPr>
                        <a:t>12,50,000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II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Operational</a:t>
                      </a:r>
                      <a:r>
                        <a:rPr lang="en-US" sz="1100" b="1" u="none" strike="noStrike" baseline="0" dirty="0">
                          <a:effectLst/>
                        </a:rPr>
                        <a:t> Expenditure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Salary (5 people including machine operators, segregators and unit managers)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00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Wages for </a:t>
                      </a:r>
                      <a:r>
                        <a:rPr lang="en-US" sz="1100" u="none" strike="noStrike" dirty="0" err="1">
                          <a:effectLst/>
                        </a:rPr>
                        <a:t>Ragpickers</a:t>
                      </a:r>
                      <a:r>
                        <a:rPr lang="en-US" sz="1100" u="none" strike="noStrike" dirty="0">
                          <a:effectLst/>
                        </a:rPr>
                        <a:t>/Waste Collectors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6,00,000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Electricity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d.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Administration Expenses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Marketing &amp; Publicity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f.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Local Travel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20,000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3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Total (A)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effectLst/>
                        </a:rPr>
                        <a:t>8,10,000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67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Cost recovered through sales of plastic to road development authorities &amp; cement factories (B)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effectLst/>
                        </a:rPr>
                        <a:t>8,40,000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0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Profit per month (B-A)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effectLst/>
                        </a:rPr>
                        <a:t>30,000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551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</a:rPr>
                        <a:t>Profit Per Day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u="none" strike="noStrike" dirty="0">
                          <a:effectLst/>
                        </a:rPr>
                        <a:t>1,000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68" marR="8668" marT="8668" marB="0" anchor="b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30076" y="6338149"/>
            <a:ext cx="36619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*Capital Expenditure borne by the Municipal corporation(s)</a:t>
            </a:r>
          </a:p>
          <a:p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5471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at the Triple Bottom 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4"/>
          </p:nvPr>
        </p:nvSpPr>
        <p:spPr>
          <a:xfrm>
            <a:off x="0" y="1413164"/>
            <a:ext cx="12192000" cy="533861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u="sng" dirty="0"/>
              <a:t>Social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Creation of employment opportunities for nearly </a:t>
            </a:r>
            <a:r>
              <a:rPr lang="en-US" sz="2000" b="1" dirty="0"/>
              <a:t>1700 </a:t>
            </a:r>
            <a:r>
              <a:rPr lang="en-US" sz="2000" b="1" dirty="0" err="1"/>
              <a:t>Safaii</a:t>
            </a:r>
            <a:r>
              <a:rPr lang="en-US" sz="2000" b="1" dirty="0"/>
              <a:t> </a:t>
            </a:r>
            <a:r>
              <a:rPr lang="en-US" sz="2000" b="1" dirty="0" err="1"/>
              <a:t>Mitras</a:t>
            </a:r>
            <a:r>
              <a:rPr lang="en-US" sz="2000" b="1" dirty="0"/>
              <a:t> </a:t>
            </a:r>
            <a:r>
              <a:rPr lang="en-US" sz="2000" dirty="0"/>
              <a:t>rag pickers </a:t>
            </a:r>
            <a:r>
              <a:rPr lang="en-US" sz="2000" u="sng" dirty="0"/>
              <a:t>Every Day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Mainstreaming of Rag pickers/Waste Collectors into the formal system of waste collection and segregation (Regular income of </a:t>
            </a:r>
            <a:r>
              <a:rPr lang="en-US" sz="2000" dirty="0" err="1"/>
              <a:t>Rs</a:t>
            </a:r>
            <a:r>
              <a:rPr lang="en-US" sz="2000" dirty="0"/>
              <a:t>. 175-Rs. 200 per day has emerged out of the project for each rag picker/waste collector)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Providing them the Dignity &amp; Respect and Identity (</a:t>
            </a:r>
            <a:r>
              <a:rPr lang="en-US" sz="2000" b="1" dirty="0">
                <a:solidFill>
                  <a:srgbClr val="C00000"/>
                </a:solidFill>
              </a:rPr>
              <a:t>through identity cards by the MC</a:t>
            </a:r>
            <a:r>
              <a:rPr lang="en-US" sz="2000" b="1" dirty="0"/>
              <a:t>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lang="en-US" sz="2000" b="1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u="sng" dirty="0"/>
              <a:t>Economic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Reduced Transportation Costs (owing to bailing of waste Vs transporting loose waste)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Huge savings for Cement factories (One factory served by the Indore </a:t>
            </a:r>
            <a:r>
              <a:rPr lang="en-US" sz="2000" dirty="0" err="1"/>
              <a:t>centre</a:t>
            </a:r>
            <a:r>
              <a:rPr lang="en-US" sz="2000" dirty="0"/>
              <a:t> saved </a:t>
            </a:r>
            <a:r>
              <a:rPr lang="en-US" sz="2000" dirty="0" err="1"/>
              <a:t>Rs</a:t>
            </a:r>
            <a:r>
              <a:rPr lang="en-US" sz="2000" dirty="0"/>
              <a:t>. 14 crores in 2 years on account of fuel cost through the alternate use of plastic fuel) 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1" u="sng" dirty="0"/>
              <a:t>Environmental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Reduction in carbon emission from burning of plastic waste instead of coal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Recycling of plastics and avoid the litter in places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Prevention of choking of sewage lines ensuring health and hygiene and avoiding flooding during rainy seasons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8632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397</Words>
  <Application>Microsoft Office PowerPoint</Application>
  <PresentationFormat>Widescreen</PresentationFormat>
  <Paragraphs>90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KPMG Extralight</vt:lpstr>
      <vt:lpstr>Univers for KPMG</vt:lpstr>
      <vt:lpstr>Office Theme</vt:lpstr>
      <vt:lpstr>Plastic Waste Collection Centre- Madhya Pradesh Model </vt:lpstr>
      <vt:lpstr>Benefits at the Triple Bottom Line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Plastic Waste Collection and Segregation Centre</dc:title>
  <dc:creator>Faustina</dc:creator>
  <cp:lastModifiedBy>prabhjot sodhi</cp:lastModifiedBy>
  <cp:revision>11</cp:revision>
  <dcterms:created xsi:type="dcterms:W3CDTF">2017-05-19T10:33:02Z</dcterms:created>
  <dcterms:modified xsi:type="dcterms:W3CDTF">2017-05-21T11:10:20Z</dcterms:modified>
</cp:coreProperties>
</file>